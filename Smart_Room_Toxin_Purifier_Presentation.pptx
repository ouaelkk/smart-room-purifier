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1800225"/>
          </a:xfrm>
          <a:prstGeom prst="rect">
            <a:avLst/>
          </a:prstGeom>
          <a:solidFill>
            <a:srgbClr val="00D9FF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Text 1"/>
          <p:cNvSpPr txBox="1"/>
          <p:nvPr/>
        </p:nvSpPr>
        <p:spPr>
          <a:xfrm>
            <a:off x="502919" y="171331"/>
            <a:ext cx="8138161" cy="1643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5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SMART-ROOM TOXIN PURIFIER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02919" y="2349371"/>
            <a:ext cx="813816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solidFill>
                  <a:srgbClr val="E0E0E0"/>
                </a:solidFill>
              </a:defRPr>
            </a:lvl1pPr>
          </a:lstStyle>
          <a:p>
            <a:r>
              <a:t>Real-Time Analysis of 3D Diffusion Fields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02919" y="2931205"/>
            <a:ext cx="8138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i="1">
                <a:solidFill>
                  <a:srgbClr val="FFD700"/>
                </a:solidFill>
              </a:defRPr>
            </a:lvl1pPr>
          </a:lstStyle>
          <a:p>
            <a:r>
              <a:t>Multivariable Calculus &amp; Control Systems Engineering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02919" y="4851932"/>
            <a:ext cx="8138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 i="1">
                <a:solidFill>
                  <a:srgbClr val="E0E0E0"/>
                </a:solidFill>
              </a:defRPr>
            </a:lvl1pPr>
          </a:lstStyle>
          <a:p>
            <a:r>
              <a:t>Authors: KEBBANE Ouael, BENDILMI Mélissa, ALLALOU Lilia Assia, FERHAT Abdeldjalil Nassim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Text 1"/>
          <p:cNvSpPr txBox="1"/>
          <p:nvPr/>
        </p:nvSpPr>
        <p:spPr>
          <a:xfrm>
            <a:off x="502919" y="134039"/>
            <a:ext cx="8138161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PROJECT OVERVIEW</a:t>
            </a:r>
          </a:p>
        </p:txBody>
      </p:sp>
      <p:sp>
        <p:nvSpPr>
          <p:cNvPr id="28" name="Shape 2"/>
          <p:cNvSpPr/>
          <p:nvPr/>
        </p:nvSpPr>
        <p:spPr>
          <a:xfrm>
            <a:off x="457199" y="1097280"/>
            <a:ext cx="2560322" cy="4389121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Text 3"/>
          <p:cNvSpPr txBox="1"/>
          <p:nvPr/>
        </p:nvSpPr>
        <p:spPr>
          <a:xfrm>
            <a:off x="502919" y="1196340"/>
            <a:ext cx="246888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00D9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⚠️</a:t>
            </a:r>
          </a:p>
        </p:txBody>
      </p:sp>
      <p:sp>
        <p:nvSpPr>
          <p:cNvPr id="30" name="Text 4"/>
          <p:cNvSpPr txBox="1"/>
          <p:nvPr/>
        </p:nvSpPr>
        <p:spPr>
          <a:xfrm>
            <a:off x="640079" y="1946423"/>
            <a:ext cx="2194562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PROBLEM</a:t>
            </a:r>
          </a:p>
        </p:txBody>
      </p:sp>
      <p:sp>
        <p:nvSpPr>
          <p:cNvPr id="31" name="Text 5"/>
          <p:cNvSpPr txBox="1"/>
          <p:nvPr/>
        </p:nvSpPr>
        <p:spPr>
          <a:xfrm>
            <a:off x="685800" y="2468879"/>
            <a:ext cx="2103121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Toxic fumes diffuse through a 3D room. We need real-time control to keep air safe.</a:t>
            </a:r>
          </a:p>
        </p:txBody>
      </p:sp>
      <p:sp>
        <p:nvSpPr>
          <p:cNvPr id="32" name="Shape 6"/>
          <p:cNvSpPr/>
          <p:nvPr/>
        </p:nvSpPr>
        <p:spPr>
          <a:xfrm>
            <a:off x="3154679" y="1097280"/>
            <a:ext cx="2560321" cy="4389121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Text 7"/>
          <p:cNvSpPr txBox="1"/>
          <p:nvPr/>
        </p:nvSpPr>
        <p:spPr>
          <a:xfrm>
            <a:off x="3200399" y="1196340"/>
            <a:ext cx="246888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00D9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🔬</a:t>
            </a:r>
          </a:p>
        </p:txBody>
      </p:sp>
      <p:sp>
        <p:nvSpPr>
          <p:cNvPr id="34" name="Text 8"/>
          <p:cNvSpPr txBox="1"/>
          <p:nvPr/>
        </p:nvSpPr>
        <p:spPr>
          <a:xfrm>
            <a:off x="3337560" y="1946423"/>
            <a:ext cx="21945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SOLUTION</a:t>
            </a:r>
          </a:p>
        </p:txBody>
      </p:sp>
      <p:sp>
        <p:nvSpPr>
          <p:cNvPr id="35" name="Text 9"/>
          <p:cNvSpPr txBox="1"/>
          <p:nvPr/>
        </p:nvSpPr>
        <p:spPr>
          <a:xfrm>
            <a:off x="3383279" y="2468879"/>
            <a:ext cx="2103121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Smart purifier regulated by PID controller, computing 3D concentration field in real-time.</a:t>
            </a:r>
          </a:p>
        </p:txBody>
      </p:sp>
      <p:sp>
        <p:nvSpPr>
          <p:cNvPr id="36" name="Shape 10"/>
          <p:cNvSpPr/>
          <p:nvPr/>
        </p:nvSpPr>
        <p:spPr>
          <a:xfrm>
            <a:off x="5852159" y="1097280"/>
            <a:ext cx="2560321" cy="4389121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" name="Text 11"/>
          <p:cNvSpPr txBox="1"/>
          <p:nvPr/>
        </p:nvSpPr>
        <p:spPr>
          <a:xfrm>
            <a:off x="5897879" y="1260236"/>
            <a:ext cx="246888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00D9FF"/>
                </a:solidFill>
              </a:defRPr>
            </a:lvl1pPr>
          </a:lstStyle>
          <a:p>
            <a:r>
              <a:t>∑</a:t>
            </a:r>
          </a:p>
        </p:txBody>
      </p:sp>
      <p:sp>
        <p:nvSpPr>
          <p:cNvPr id="38" name="Text 12"/>
          <p:cNvSpPr txBox="1"/>
          <p:nvPr/>
        </p:nvSpPr>
        <p:spPr>
          <a:xfrm>
            <a:off x="6035040" y="1946423"/>
            <a:ext cx="21945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MATH</a:t>
            </a:r>
          </a:p>
        </p:txBody>
      </p:sp>
      <p:sp>
        <p:nvSpPr>
          <p:cNvPr id="39" name="Text 13"/>
          <p:cNvSpPr txBox="1"/>
          <p:nvPr/>
        </p:nvSpPr>
        <p:spPr>
          <a:xfrm>
            <a:off x="6080760" y="2468879"/>
            <a:ext cx="2103121" cy="555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3D diffusion PDE + triple integration + Laplace-domain control theory.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Text 1"/>
          <p:cNvSpPr txBox="1"/>
          <p:nvPr/>
        </p:nvSpPr>
        <p:spPr>
          <a:xfrm>
            <a:off x="502919" y="-76530"/>
            <a:ext cx="8138161" cy="106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MATHEMATICAL FOUNDATION: 3D DIFFUSION</a:t>
            </a:r>
          </a:p>
        </p:txBody>
      </p:sp>
      <p:sp>
        <p:nvSpPr>
          <p:cNvPr id="43" name="Shape 2"/>
          <p:cNvSpPr/>
          <p:nvPr/>
        </p:nvSpPr>
        <p:spPr>
          <a:xfrm>
            <a:off x="457200" y="914400"/>
            <a:ext cx="4114800" cy="5303521"/>
          </a:xfrm>
          <a:prstGeom prst="rect">
            <a:avLst/>
          </a:prstGeom>
          <a:solidFill>
            <a:srgbClr val="2A2A3E"/>
          </a:solidFill>
          <a:ln w="12700">
            <a:solidFill>
              <a:srgbClr val="0096A6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" name="Text 3"/>
          <p:cNvSpPr txBox="1"/>
          <p:nvPr/>
        </p:nvSpPr>
        <p:spPr>
          <a:xfrm>
            <a:off x="685799" y="1123463"/>
            <a:ext cx="365760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The Diffusion Equation (PDE)</a:t>
            </a:r>
          </a:p>
        </p:txBody>
      </p:sp>
      <p:sp>
        <p:nvSpPr>
          <p:cNvPr id="45" name="Text 4"/>
          <p:cNvSpPr txBox="1"/>
          <p:nvPr/>
        </p:nvSpPr>
        <p:spPr>
          <a:xfrm>
            <a:off x="685799" y="1503679"/>
            <a:ext cx="365760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i="1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∂C/∂t = D(∂²C/∂x² + ∂²C/∂y² + ∂²C/∂z²)</a:t>
            </a:r>
          </a:p>
        </p:txBody>
      </p:sp>
      <p:sp>
        <p:nvSpPr>
          <p:cNvPr id="46" name="Text 5"/>
          <p:cNvSpPr txBox="1"/>
          <p:nvPr/>
        </p:nvSpPr>
        <p:spPr>
          <a:xfrm>
            <a:off x="685799" y="2286000"/>
            <a:ext cx="3657601" cy="1249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Where:</a:t>
            </a:r>
          </a:p>
          <a:p>
            <a:pPr>
              <a:defRPr sz="1100">
                <a:solidFill>
                  <a:srgbClr val="E0E0E0"/>
                </a:solidFill>
              </a:defRPr>
            </a:pPr>
            <a:r>
              <a:t>• C = toxin concentration</a:t>
            </a:r>
          </a:p>
          <a:p>
            <a:pPr>
              <a:defRPr sz="1100">
                <a:solidFill>
                  <a:srgbClr val="E0E0E0"/>
                </a:solidFill>
              </a:defRPr>
            </a:pPr>
            <a:r>
              <a:t>• t = time</a:t>
            </a:r>
          </a:p>
          <a:p>
            <a:pPr>
              <a:defRPr sz="1100">
                <a:solidFill>
                  <a:srgbClr val="E0E0E0"/>
                </a:solidFill>
              </a:defRPr>
            </a:pPr>
            <a:r>
              <a:t>• D = diffusion coefficient</a:t>
            </a:r>
          </a:p>
          <a:p>
            <a:pPr>
              <a:defRPr sz="1100">
                <a:solidFill>
                  <a:srgbClr val="E0E0E0"/>
                </a:solidFill>
              </a:defRPr>
            </a:pPr>
            <a:r>
              <a:t>• ∇² = Laplacian (3D)</a:t>
            </a:r>
          </a:p>
          <a:p>
            <a:pPr>
              <a:defRPr sz="1100"/>
            </a:pPr>
            <a:endParaRPr/>
          </a:p>
          <a:p>
            <a:pPr>
              <a:defRPr sz="1100">
                <a:solidFill>
                  <a:srgbClr val="E0E0E0"/>
                </a:solidFill>
              </a:defRPr>
            </a:pPr>
            <a:r>
              <a:t>Shows how toxin spreads through space over time.</a:t>
            </a:r>
          </a:p>
        </p:txBody>
      </p:sp>
      <p:sp>
        <p:nvSpPr>
          <p:cNvPr id="47" name="Shape 6"/>
          <p:cNvSpPr/>
          <p:nvPr/>
        </p:nvSpPr>
        <p:spPr>
          <a:xfrm>
            <a:off x="4754879" y="914400"/>
            <a:ext cx="3931921" cy="5303521"/>
          </a:xfrm>
          <a:prstGeom prst="rect">
            <a:avLst/>
          </a:prstGeom>
          <a:solidFill>
            <a:srgbClr val="2A2A3E"/>
          </a:solidFill>
          <a:ln w="12700">
            <a:solidFill>
              <a:srgbClr val="FF91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Text 7"/>
          <p:cNvSpPr txBox="1"/>
          <p:nvPr/>
        </p:nvSpPr>
        <p:spPr>
          <a:xfrm>
            <a:off x="4983479" y="1123463"/>
            <a:ext cx="3474720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91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Finite Difference Method</a:t>
            </a:r>
          </a:p>
        </p:txBody>
      </p:sp>
      <p:sp>
        <p:nvSpPr>
          <p:cNvPr id="49" name="Text 8"/>
          <p:cNvSpPr txBox="1"/>
          <p:nvPr/>
        </p:nvSpPr>
        <p:spPr>
          <a:xfrm>
            <a:off x="4983479" y="1559512"/>
            <a:ext cx="347472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Grid-based discretization:</a:t>
            </a:r>
          </a:p>
        </p:txBody>
      </p:sp>
      <p:sp>
        <p:nvSpPr>
          <p:cNvPr id="50" name="Text 9"/>
          <p:cNvSpPr txBox="1"/>
          <p:nvPr/>
        </p:nvSpPr>
        <p:spPr>
          <a:xfrm>
            <a:off x="4983479" y="2084069"/>
            <a:ext cx="3474720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7×5×7 = 245 cells</a:t>
            </a:r>
          </a:p>
          <a:p>
            <a:pPr>
              <a:defRPr sz="11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Each cell stores concentration</a:t>
            </a:r>
          </a:p>
          <a:p>
            <a:pPr>
              <a:defRPr sz="11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Laplacian calculated using 6 neighbors</a:t>
            </a:r>
          </a:p>
        </p:txBody>
      </p:sp>
      <p:sp>
        <p:nvSpPr>
          <p:cNvPr id="51" name="Text 10"/>
          <p:cNvSpPr txBox="1"/>
          <p:nvPr/>
        </p:nvSpPr>
        <p:spPr>
          <a:xfrm>
            <a:off x="4983479" y="2908252"/>
            <a:ext cx="347472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Advantages:</a:t>
            </a:r>
          </a:p>
        </p:txBody>
      </p:sp>
      <p:sp>
        <p:nvSpPr>
          <p:cNvPr id="52" name="Text 11"/>
          <p:cNvSpPr txBox="1"/>
          <p:nvPr/>
        </p:nvSpPr>
        <p:spPr>
          <a:xfrm>
            <a:off x="4983479" y="3498837"/>
            <a:ext cx="3474720" cy="86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00C853"/>
                </a:solidFill>
              </a:defRPr>
            </a:pPr>
            <a:r>
              <a:t>✓ Fast computation with NumPy</a:t>
            </a:r>
          </a:p>
          <a:p>
            <a:pPr>
              <a:defRPr sz="1100">
                <a:solidFill>
                  <a:srgbClr val="00C853"/>
                </a:solidFill>
              </a:defRPr>
            </a:pPr>
            <a:r>
              <a:t>✓ Captures spatial variations</a:t>
            </a:r>
          </a:p>
          <a:p>
            <a:pPr>
              <a:defRPr sz="1100">
                <a:solidFill>
                  <a:srgbClr val="00C853"/>
                </a:solidFill>
              </a:defRPr>
            </a:pPr>
            <a:r>
              <a:t>✓ Real-time updates</a:t>
            </a:r>
          </a:p>
          <a:p>
            <a:pPr>
              <a:defRPr sz="1100">
                <a:solidFill>
                  <a:srgbClr val="00C853"/>
                </a:solidFill>
              </a:defRPr>
            </a:pPr>
            <a:r>
              <a:t>✓ Easy to visualize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ext 1"/>
          <p:cNvSpPr txBox="1"/>
          <p:nvPr/>
        </p:nvSpPr>
        <p:spPr>
          <a:xfrm>
            <a:off x="502919" y="-59488"/>
            <a:ext cx="8138161" cy="106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TRIPLE INTEGRATION: TOTAL TOXIN MASS</a:t>
            </a:r>
          </a:p>
        </p:txBody>
      </p:sp>
      <p:sp>
        <p:nvSpPr>
          <p:cNvPr id="56" name="Shape 2"/>
          <p:cNvSpPr/>
          <p:nvPr/>
        </p:nvSpPr>
        <p:spPr>
          <a:xfrm>
            <a:off x="457200" y="914400"/>
            <a:ext cx="8229600" cy="1097281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" name="Text 3"/>
          <p:cNvSpPr txBox="1"/>
          <p:nvPr/>
        </p:nvSpPr>
        <p:spPr>
          <a:xfrm>
            <a:off x="685799" y="1201420"/>
            <a:ext cx="77724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 b="1" i="1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T(t) = ∭ᵥ C(x,y,z,t) dV</a:t>
            </a:r>
          </a:p>
        </p:txBody>
      </p:sp>
      <p:sp>
        <p:nvSpPr>
          <p:cNvPr id="58" name="Shape 4"/>
          <p:cNvSpPr/>
          <p:nvPr/>
        </p:nvSpPr>
        <p:spPr>
          <a:xfrm>
            <a:off x="457200" y="2286000"/>
            <a:ext cx="2743200" cy="3017521"/>
          </a:xfrm>
          <a:prstGeom prst="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Text 5"/>
          <p:cNvSpPr txBox="1"/>
          <p:nvPr/>
        </p:nvSpPr>
        <p:spPr>
          <a:xfrm>
            <a:off x="502919" y="2387505"/>
            <a:ext cx="2651762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</a:t>
            </a:r>
          </a:p>
        </p:txBody>
      </p:sp>
      <p:sp>
        <p:nvSpPr>
          <p:cNvPr id="60" name="Text 6"/>
          <p:cNvSpPr txBox="1"/>
          <p:nvPr/>
        </p:nvSpPr>
        <p:spPr>
          <a:xfrm>
            <a:off x="685800" y="2924970"/>
            <a:ext cx="22860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Sum All Concentrations</a:t>
            </a:r>
          </a:p>
        </p:txBody>
      </p:sp>
      <p:sp>
        <p:nvSpPr>
          <p:cNvPr id="61" name="Text 7"/>
          <p:cNvSpPr txBox="1"/>
          <p:nvPr/>
        </p:nvSpPr>
        <p:spPr>
          <a:xfrm>
            <a:off x="685800" y="3337559"/>
            <a:ext cx="22860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E0E0E0"/>
                </a:solidFill>
              </a:defRPr>
            </a:lvl1pPr>
          </a:lstStyle>
          <a:p>
            <a:r>
              <a:t>Add up toxin levels from all 245 grid cells</a:t>
            </a:r>
          </a:p>
        </p:txBody>
      </p:sp>
      <p:sp>
        <p:nvSpPr>
          <p:cNvPr id="62" name="Shape 8"/>
          <p:cNvSpPr/>
          <p:nvPr/>
        </p:nvSpPr>
        <p:spPr>
          <a:xfrm>
            <a:off x="3337559" y="2286000"/>
            <a:ext cx="2743201" cy="3017521"/>
          </a:xfrm>
          <a:prstGeom prst="rect">
            <a:avLst/>
          </a:prstGeom>
          <a:solidFill>
            <a:srgbClr val="2A2A3E"/>
          </a:solidFill>
          <a:ln w="25400">
            <a:solidFill>
              <a:srgbClr val="FF91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" name="Text 9"/>
          <p:cNvSpPr txBox="1"/>
          <p:nvPr/>
        </p:nvSpPr>
        <p:spPr>
          <a:xfrm>
            <a:off x="3383279" y="2387505"/>
            <a:ext cx="2651761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 b="1">
                <a:solidFill>
                  <a:srgbClr val="FF91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64" name="Text 10"/>
          <p:cNvSpPr txBox="1"/>
          <p:nvPr/>
        </p:nvSpPr>
        <p:spPr>
          <a:xfrm>
            <a:off x="3566160" y="2924970"/>
            <a:ext cx="22860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FF91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Scale by Cell Volume</a:t>
            </a:r>
          </a:p>
        </p:txBody>
      </p:sp>
      <p:sp>
        <p:nvSpPr>
          <p:cNvPr id="65" name="Text 11"/>
          <p:cNvSpPr txBox="1"/>
          <p:nvPr/>
        </p:nvSpPr>
        <p:spPr>
          <a:xfrm>
            <a:off x="3566160" y="3337559"/>
            <a:ext cx="22860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E0E0E0"/>
                </a:solidFill>
              </a:defRPr>
            </a:lvl1pPr>
          </a:lstStyle>
          <a:p>
            <a:r>
              <a:t>Multiply by dV (volume of each cell) to get total mass</a:t>
            </a:r>
          </a:p>
        </p:txBody>
      </p:sp>
      <p:sp>
        <p:nvSpPr>
          <p:cNvPr id="66" name="Shape 12"/>
          <p:cNvSpPr/>
          <p:nvPr/>
        </p:nvSpPr>
        <p:spPr>
          <a:xfrm>
            <a:off x="6217920" y="2286000"/>
            <a:ext cx="2743201" cy="3017521"/>
          </a:xfrm>
          <a:prstGeom prst="rect">
            <a:avLst/>
          </a:prstGeom>
          <a:solidFill>
            <a:srgbClr val="2A2A3E"/>
          </a:solidFill>
          <a:ln w="25400">
            <a:solidFill>
              <a:srgbClr val="00C85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Text 13"/>
          <p:cNvSpPr txBox="1"/>
          <p:nvPr/>
        </p:nvSpPr>
        <p:spPr>
          <a:xfrm>
            <a:off x="6263640" y="2387505"/>
            <a:ext cx="2651761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</a:t>
            </a:r>
          </a:p>
        </p:txBody>
      </p:sp>
      <p:sp>
        <p:nvSpPr>
          <p:cNvPr id="68" name="Text 14"/>
          <p:cNvSpPr txBox="1"/>
          <p:nvPr/>
        </p:nvSpPr>
        <p:spPr>
          <a:xfrm>
            <a:off x="6446520" y="2924970"/>
            <a:ext cx="22860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Real-Time Feedback</a:t>
            </a:r>
          </a:p>
        </p:txBody>
      </p:sp>
      <p:sp>
        <p:nvSpPr>
          <p:cNvPr id="69" name="Text 15"/>
          <p:cNvSpPr txBox="1"/>
          <p:nvPr/>
        </p:nvSpPr>
        <p:spPr>
          <a:xfrm>
            <a:off x="6446520" y="3337559"/>
            <a:ext cx="22860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E0E0E0"/>
                </a:solidFill>
              </a:defRPr>
            </a:lvl1pPr>
          </a:lstStyle>
          <a:p>
            <a:r>
              <a:t>Use this value to control the purifier fan speed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Text 1"/>
          <p:cNvSpPr txBox="1"/>
          <p:nvPr/>
        </p:nvSpPr>
        <p:spPr>
          <a:xfrm>
            <a:off x="502919" y="-50854"/>
            <a:ext cx="8138161" cy="106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CONTROL THEORY: LAPLACE-DOMAIN PID</a:t>
            </a:r>
          </a:p>
        </p:txBody>
      </p:sp>
      <p:sp>
        <p:nvSpPr>
          <p:cNvPr id="73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Text 3"/>
          <p:cNvSpPr txBox="1"/>
          <p:nvPr/>
        </p:nvSpPr>
        <p:spPr>
          <a:xfrm>
            <a:off x="685799" y="995680"/>
            <a:ext cx="7772401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 b="1" i="1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Transfer Function:  H(s) = Kp + Ki/s + Kd·N·s/(s+N)</a:t>
            </a:r>
          </a:p>
        </p:txBody>
      </p:sp>
      <p:sp>
        <p:nvSpPr>
          <p:cNvPr id="75" name="Shape 4"/>
          <p:cNvSpPr/>
          <p:nvPr/>
        </p:nvSpPr>
        <p:spPr>
          <a:xfrm>
            <a:off x="457200" y="2011679"/>
            <a:ext cx="2743200" cy="3291842"/>
          </a:xfrm>
          <a:prstGeom prst="rect">
            <a:avLst/>
          </a:prstGeom>
          <a:solidFill>
            <a:srgbClr val="2A2A3E"/>
          </a:solidFill>
          <a:ln w="25400">
            <a:solidFill>
              <a:srgbClr val="FF174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Text 5"/>
          <p:cNvSpPr txBox="1"/>
          <p:nvPr/>
        </p:nvSpPr>
        <p:spPr>
          <a:xfrm>
            <a:off x="502919" y="2103417"/>
            <a:ext cx="2651762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 b="1">
                <a:solidFill>
                  <a:srgbClr val="FF17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</a:t>
            </a:r>
          </a:p>
        </p:txBody>
      </p:sp>
      <p:sp>
        <p:nvSpPr>
          <p:cNvPr id="77" name="Text 6"/>
          <p:cNvSpPr txBox="1"/>
          <p:nvPr/>
        </p:nvSpPr>
        <p:spPr>
          <a:xfrm>
            <a:off x="685800" y="2719230"/>
            <a:ext cx="22860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FF17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Proportional</a:t>
            </a:r>
          </a:p>
        </p:txBody>
      </p:sp>
      <p:sp>
        <p:nvSpPr>
          <p:cNvPr id="78" name="Text 7"/>
          <p:cNvSpPr txBox="1"/>
          <p:nvPr/>
        </p:nvSpPr>
        <p:spPr>
          <a:xfrm>
            <a:off x="685800" y="3101340"/>
            <a:ext cx="22860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Kp × error</a:t>
            </a:r>
          </a:p>
        </p:txBody>
      </p:sp>
      <p:sp>
        <p:nvSpPr>
          <p:cNvPr id="79" name="Text 8"/>
          <p:cNvSpPr txBox="1"/>
          <p:nvPr/>
        </p:nvSpPr>
        <p:spPr>
          <a:xfrm>
            <a:off x="685800" y="3429000"/>
            <a:ext cx="2286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E0E0E0"/>
                </a:solidFill>
              </a:defRPr>
            </a:lvl1pPr>
          </a:lstStyle>
          <a:p>
            <a:r>
              <a:t>Immediate reaction to current toxin level</a:t>
            </a:r>
          </a:p>
        </p:txBody>
      </p:sp>
      <p:sp>
        <p:nvSpPr>
          <p:cNvPr id="80" name="Shape 9"/>
          <p:cNvSpPr/>
          <p:nvPr/>
        </p:nvSpPr>
        <p:spPr>
          <a:xfrm>
            <a:off x="3337559" y="2011679"/>
            <a:ext cx="2743201" cy="3291842"/>
          </a:xfrm>
          <a:prstGeom prst="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Text 10"/>
          <p:cNvSpPr txBox="1"/>
          <p:nvPr/>
        </p:nvSpPr>
        <p:spPr>
          <a:xfrm>
            <a:off x="3383279" y="2103417"/>
            <a:ext cx="2651761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</a:t>
            </a:r>
          </a:p>
        </p:txBody>
      </p:sp>
      <p:sp>
        <p:nvSpPr>
          <p:cNvPr id="82" name="Text 11"/>
          <p:cNvSpPr txBox="1"/>
          <p:nvPr/>
        </p:nvSpPr>
        <p:spPr>
          <a:xfrm>
            <a:off x="3566160" y="2719230"/>
            <a:ext cx="22860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Integral</a:t>
            </a:r>
          </a:p>
        </p:txBody>
      </p:sp>
      <p:sp>
        <p:nvSpPr>
          <p:cNvPr id="83" name="Text 12"/>
          <p:cNvSpPr txBox="1"/>
          <p:nvPr/>
        </p:nvSpPr>
        <p:spPr>
          <a:xfrm>
            <a:off x="3566160" y="3101340"/>
            <a:ext cx="22860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Ki ∫ error dt</a:t>
            </a:r>
          </a:p>
        </p:txBody>
      </p:sp>
      <p:sp>
        <p:nvSpPr>
          <p:cNvPr id="84" name="Text 13"/>
          <p:cNvSpPr txBox="1"/>
          <p:nvPr/>
        </p:nvSpPr>
        <p:spPr>
          <a:xfrm>
            <a:off x="3566160" y="3429000"/>
            <a:ext cx="2286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E0E0E0"/>
                </a:solidFill>
              </a:defRPr>
            </a:lvl1pPr>
          </a:lstStyle>
          <a:p>
            <a:r>
              <a:t>Corrects accumulated errors over time</a:t>
            </a:r>
          </a:p>
        </p:txBody>
      </p:sp>
      <p:sp>
        <p:nvSpPr>
          <p:cNvPr id="85" name="Shape 14"/>
          <p:cNvSpPr/>
          <p:nvPr/>
        </p:nvSpPr>
        <p:spPr>
          <a:xfrm>
            <a:off x="6217920" y="2011679"/>
            <a:ext cx="2743201" cy="3291842"/>
          </a:xfrm>
          <a:prstGeom prst="rect">
            <a:avLst/>
          </a:prstGeom>
          <a:solidFill>
            <a:srgbClr val="2A2A3E"/>
          </a:solidFill>
          <a:ln w="25400">
            <a:solidFill>
              <a:srgbClr val="00C85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Text 15"/>
          <p:cNvSpPr txBox="1"/>
          <p:nvPr/>
        </p:nvSpPr>
        <p:spPr>
          <a:xfrm>
            <a:off x="6263640" y="2103417"/>
            <a:ext cx="2651761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</a:t>
            </a:r>
          </a:p>
        </p:txBody>
      </p:sp>
      <p:sp>
        <p:nvSpPr>
          <p:cNvPr id="87" name="Text 16"/>
          <p:cNvSpPr txBox="1"/>
          <p:nvPr/>
        </p:nvSpPr>
        <p:spPr>
          <a:xfrm>
            <a:off x="6446520" y="2719230"/>
            <a:ext cx="22860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Derivative</a:t>
            </a:r>
          </a:p>
        </p:txBody>
      </p:sp>
      <p:sp>
        <p:nvSpPr>
          <p:cNvPr id="88" name="Text 17"/>
          <p:cNvSpPr txBox="1"/>
          <p:nvPr/>
        </p:nvSpPr>
        <p:spPr>
          <a:xfrm>
            <a:off x="6446520" y="3101340"/>
            <a:ext cx="22860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Kd × d(error)/dt</a:t>
            </a:r>
          </a:p>
        </p:txBody>
      </p:sp>
      <p:sp>
        <p:nvSpPr>
          <p:cNvPr id="89" name="Text 18"/>
          <p:cNvSpPr txBox="1"/>
          <p:nvPr/>
        </p:nvSpPr>
        <p:spPr>
          <a:xfrm>
            <a:off x="6446520" y="3429000"/>
            <a:ext cx="22860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E0E0E0"/>
                </a:solidFill>
              </a:defRPr>
            </a:lvl1pPr>
          </a:lstStyle>
          <a:p>
            <a:r>
              <a:t>Anticipates future changes in toxin level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Text 1"/>
          <p:cNvSpPr txBox="1"/>
          <p:nvPr/>
        </p:nvSpPr>
        <p:spPr>
          <a:xfrm>
            <a:off x="502919" y="170893"/>
            <a:ext cx="8138161" cy="57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TUSTIN (BILINEAR) TRANSFORM</a:t>
            </a:r>
          </a:p>
        </p:txBody>
      </p:sp>
      <p:sp>
        <p:nvSpPr>
          <p:cNvPr id="93" name="Shape 2"/>
          <p:cNvSpPr/>
          <p:nvPr/>
        </p:nvSpPr>
        <p:spPr>
          <a:xfrm>
            <a:off x="457199" y="914400"/>
            <a:ext cx="3931922" cy="5303521"/>
          </a:xfrm>
          <a:prstGeom prst="rect">
            <a:avLst/>
          </a:prstGeom>
          <a:solidFill>
            <a:srgbClr val="2A2A3E"/>
          </a:solidFill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Text 3"/>
          <p:cNvSpPr txBox="1"/>
          <p:nvPr/>
        </p:nvSpPr>
        <p:spPr>
          <a:xfrm>
            <a:off x="685800" y="1135748"/>
            <a:ext cx="3474719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Continuous Time (s-domain)</a:t>
            </a:r>
          </a:p>
        </p:txBody>
      </p:sp>
      <p:sp>
        <p:nvSpPr>
          <p:cNvPr id="95" name="Text 4"/>
          <p:cNvSpPr txBox="1"/>
          <p:nvPr/>
        </p:nvSpPr>
        <p:spPr>
          <a:xfrm>
            <a:off x="685800" y="1554480"/>
            <a:ext cx="3474719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E0E0E0"/>
                </a:solidFill>
              </a:defRPr>
            </a:pPr>
            <a:r>
              <a:t>Classical calculus with continuous differential equations.</a:t>
            </a:r>
          </a:p>
          <a:p>
            <a:pPr>
              <a:defRPr sz="1100"/>
            </a:pPr>
            <a:endParaRPr/>
          </a:p>
          <a:p>
            <a:pPr>
              <a:defRPr sz="1100">
                <a:solidFill>
                  <a:srgbClr val="E0E0E0"/>
                </a:solidFill>
              </a:defRPr>
            </a:pPr>
            <a:r>
              <a:t>Ideal for theory, but computers work in discrete time steps.</a:t>
            </a:r>
          </a:p>
        </p:txBody>
      </p:sp>
      <p:sp>
        <p:nvSpPr>
          <p:cNvPr id="96" name="Shape 5"/>
          <p:cNvSpPr/>
          <p:nvPr/>
        </p:nvSpPr>
        <p:spPr>
          <a:xfrm>
            <a:off x="640079" y="2834639"/>
            <a:ext cx="3291842" cy="914401"/>
          </a:xfrm>
          <a:prstGeom prst="rect">
            <a:avLst/>
          </a:prstGeom>
          <a:solidFill>
            <a:srgbClr val="0A0E27"/>
          </a:solidFill>
          <a:ln w="127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Text 6"/>
          <p:cNvSpPr txBox="1"/>
          <p:nvPr/>
        </p:nvSpPr>
        <p:spPr>
          <a:xfrm>
            <a:off x="685799" y="3125469"/>
            <a:ext cx="3200402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 i="1">
                <a:solidFill>
                  <a:srgbClr val="00D9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 ≈ (2/dt) × (z-1)/(z+1)</a:t>
            </a:r>
          </a:p>
        </p:txBody>
      </p:sp>
      <p:sp>
        <p:nvSpPr>
          <p:cNvPr id="98" name="Text 7"/>
          <p:cNvSpPr txBox="1"/>
          <p:nvPr/>
        </p:nvSpPr>
        <p:spPr>
          <a:xfrm>
            <a:off x="685800" y="4091984"/>
            <a:ext cx="347471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rgbClr val="E0E0E0"/>
                </a:solidFill>
              </a:defRPr>
            </a:lvl1pPr>
          </a:lstStyle>
          <a:p>
            <a:r>
              <a:t>where z is the shift operator (one time step back)</a:t>
            </a:r>
          </a:p>
        </p:txBody>
      </p:sp>
      <p:sp>
        <p:nvSpPr>
          <p:cNvPr id="99" name="Shape 8"/>
          <p:cNvSpPr/>
          <p:nvPr/>
        </p:nvSpPr>
        <p:spPr>
          <a:xfrm>
            <a:off x="4754879" y="914400"/>
            <a:ext cx="3931921" cy="5303521"/>
          </a:xfrm>
          <a:prstGeom prst="rect">
            <a:avLst/>
          </a:prstGeom>
          <a:solidFill>
            <a:srgbClr val="2A2A3E"/>
          </a:solidFill>
          <a:ln w="25400">
            <a:solidFill>
              <a:srgbClr val="00C85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Text 9"/>
          <p:cNvSpPr txBox="1"/>
          <p:nvPr/>
        </p:nvSpPr>
        <p:spPr>
          <a:xfrm>
            <a:off x="4983479" y="1135748"/>
            <a:ext cx="3474720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Discrete Time (z-domain)</a:t>
            </a:r>
          </a:p>
        </p:txBody>
      </p:sp>
      <p:sp>
        <p:nvSpPr>
          <p:cNvPr id="101" name="Text 10"/>
          <p:cNvSpPr txBox="1"/>
          <p:nvPr/>
        </p:nvSpPr>
        <p:spPr>
          <a:xfrm>
            <a:off x="4983479" y="1554480"/>
            <a:ext cx="3474720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Simulations run at fixed time steps (dt = 30 ms). The Tustin transform bridges theory and practice.</a:t>
            </a:r>
          </a:p>
        </p:txBody>
      </p:sp>
      <p:sp>
        <p:nvSpPr>
          <p:cNvPr id="102" name="Shape 11"/>
          <p:cNvSpPr/>
          <p:nvPr/>
        </p:nvSpPr>
        <p:spPr>
          <a:xfrm>
            <a:off x="4937759" y="2834639"/>
            <a:ext cx="3291841" cy="914401"/>
          </a:xfrm>
          <a:prstGeom prst="rect">
            <a:avLst/>
          </a:prstGeom>
          <a:solidFill>
            <a:srgbClr val="0A0E27"/>
          </a:solidFill>
          <a:ln w="12700">
            <a:solidFill>
              <a:srgbClr val="00C85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" name="Text 12"/>
          <p:cNvSpPr txBox="1"/>
          <p:nvPr/>
        </p:nvSpPr>
        <p:spPr>
          <a:xfrm>
            <a:off x="4983479" y="2885439"/>
            <a:ext cx="320040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 i="1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I[n] = I[n-1] + (dt/2)×(e[n]+e[n-1])</a:t>
            </a:r>
          </a:p>
        </p:txBody>
      </p:sp>
      <p:sp>
        <p:nvSpPr>
          <p:cNvPr id="104" name="Text 13"/>
          <p:cNvSpPr txBox="1"/>
          <p:nvPr/>
        </p:nvSpPr>
        <p:spPr>
          <a:xfrm>
            <a:off x="4983479" y="3429000"/>
            <a:ext cx="347472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i="1">
                <a:solidFill>
                  <a:srgbClr val="E0E0E0"/>
                </a:solidFill>
              </a:defRPr>
            </a:lvl1pPr>
          </a:lstStyle>
          <a:p>
            <a:r>
              <a:t>Simple recursive arithmetic executed by Python at each time step.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Text 1"/>
          <p:cNvSpPr txBox="1"/>
          <p:nvPr/>
        </p:nvSpPr>
        <p:spPr>
          <a:xfrm>
            <a:off x="502919" y="134039"/>
            <a:ext cx="8138161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SYSTEM ARCHITECTURE</a:t>
            </a:r>
          </a:p>
        </p:txBody>
      </p:sp>
      <p:sp>
        <p:nvSpPr>
          <p:cNvPr id="108" name="Shape 2"/>
          <p:cNvSpPr/>
          <p:nvPr/>
        </p:nvSpPr>
        <p:spPr>
          <a:xfrm>
            <a:off x="914400" y="1371600"/>
            <a:ext cx="1645921" cy="731521"/>
          </a:xfrm>
          <a:prstGeom prst="rect">
            <a:avLst/>
          </a:prstGeom>
          <a:solidFill>
            <a:srgbClr val="2A2A3E"/>
          </a:solidFill>
          <a:ln w="25400">
            <a:solidFill>
              <a:srgbClr val="FF174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ext 3"/>
          <p:cNvSpPr txBox="1"/>
          <p:nvPr/>
        </p:nvSpPr>
        <p:spPr>
          <a:xfrm>
            <a:off x="1051559" y="1541525"/>
            <a:ext cx="137160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 b="1">
                <a:solidFill>
                  <a:srgbClr val="FF17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Toxin Sources</a:t>
            </a:r>
          </a:p>
          <a:p>
            <a:pPr algn="ctr">
              <a:defRPr sz="1100" b="1">
                <a:solidFill>
                  <a:srgbClr val="FF174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(Leaks)</a:t>
            </a:r>
          </a:p>
        </p:txBody>
      </p:sp>
      <p:sp>
        <p:nvSpPr>
          <p:cNvPr id="110" name="Shape 4"/>
          <p:cNvSpPr/>
          <p:nvPr/>
        </p:nvSpPr>
        <p:spPr>
          <a:xfrm>
            <a:off x="2926079" y="1371600"/>
            <a:ext cx="1645921" cy="731521"/>
          </a:xfrm>
          <a:prstGeom prst="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5"/>
          <p:cNvSpPr txBox="1"/>
          <p:nvPr/>
        </p:nvSpPr>
        <p:spPr>
          <a:xfrm>
            <a:off x="3063239" y="1541525"/>
            <a:ext cx="1371602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3D Concentration</a:t>
            </a:r>
          </a:p>
          <a:p>
            <a:pPr algn="ctr">
              <a:defRPr sz="11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Field C(x,y,z,t)</a:t>
            </a:r>
          </a:p>
        </p:txBody>
      </p:sp>
      <p:sp>
        <p:nvSpPr>
          <p:cNvPr id="112" name="Shape 6"/>
          <p:cNvSpPr/>
          <p:nvPr/>
        </p:nvSpPr>
        <p:spPr>
          <a:xfrm>
            <a:off x="4937759" y="1371600"/>
            <a:ext cx="1645921" cy="731521"/>
          </a:xfrm>
          <a:prstGeom prst="rect">
            <a:avLst/>
          </a:prstGeom>
          <a:solidFill>
            <a:srgbClr val="2A2A3E"/>
          </a:solidFill>
          <a:ln w="25400">
            <a:solidFill>
              <a:srgbClr val="FF91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Text 7"/>
          <p:cNvSpPr txBox="1"/>
          <p:nvPr/>
        </p:nvSpPr>
        <p:spPr>
          <a:xfrm>
            <a:off x="5074920" y="1541525"/>
            <a:ext cx="137160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 b="1">
                <a:solidFill>
                  <a:srgbClr val="FF91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Triple</a:t>
            </a:r>
          </a:p>
          <a:p>
            <a:pPr algn="ctr">
              <a:defRPr sz="1100" b="1">
                <a:solidFill>
                  <a:srgbClr val="FF91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Integration</a:t>
            </a:r>
          </a:p>
        </p:txBody>
      </p:sp>
      <p:sp>
        <p:nvSpPr>
          <p:cNvPr id="114" name="Shape 8"/>
          <p:cNvSpPr/>
          <p:nvPr/>
        </p:nvSpPr>
        <p:spPr>
          <a:xfrm>
            <a:off x="6949440" y="1371600"/>
            <a:ext cx="1645921" cy="731521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9"/>
          <p:cNvSpPr txBox="1"/>
          <p:nvPr/>
        </p:nvSpPr>
        <p:spPr>
          <a:xfrm>
            <a:off x="7086600" y="1541525"/>
            <a:ext cx="137160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1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PID Controller</a:t>
            </a:r>
          </a:p>
          <a:p>
            <a:pPr algn="ctr">
              <a:defRPr sz="11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u(t)</a:t>
            </a:r>
          </a:p>
        </p:txBody>
      </p:sp>
      <p:sp>
        <p:nvSpPr>
          <p:cNvPr id="116" name="Shape 10"/>
          <p:cNvSpPr/>
          <p:nvPr/>
        </p:nvSpPr>
        <p:spPr>
          <a:xfrm>
            <a:off x="2606039" y="1737360"/>
            <a:ext cx="274321" cy="1"/>
          </a:xfrm>
          <a:prstGeom prst="line">
            <a:avLst/>
          </a:prstGeom>
          <a:ln w="25400">
            <a:solidFill>
              <a:srgbClr val="00D9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" name="Shape 11"/>
          <p:cNvSpPr/>
          <p:nvPr/>
        </p:nvSpPr>
        <p:spPr>
          <a:xfrm>
            <a:off x="4617720" y="1737360"/>
            <a:ext cx="274321" cy="1"/>
          </a:xfrm>
          <a:prstGeom prst="line">
            <a:avLst/>
          </a:prstGeom>
          <a:ln w="25400">
            <a:solidFill>
              <a:srgbClr val="00D9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Shape 12"/>
          <p:cNvSpPr/>
          <p:nvPr/>
        </p:nvSpPr>
        <p:spPr>
          <a:xfrm>
            <a:off x="6629400" y="1737360"/>
            <a:ext cx="274321" cy="1"/>
          </a:xfrm>
          <a:prstGeom prst="line">
            <a:avLst/>
          </a:prstGeom>
          <a:ln w="25400">
            <a:solidFill>
              <a:srgbClr val="00D9FF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Shape 13"/>
          <p:cNvSpPr/>
          <p:nvPr/>
        </p:nvSpPr>
        <p:spPr>
          <a:xfrm>
            <a:off x="1828800" y="2560320"/>
            <a:ext cx="5486400" cy="731521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Text 14"/>
          <p:cNvSpPr txBox="1"/>
          <p:nvPr/>
        </p:nvSpPr>
        <p:spPr>
          <a:xfrm>
            <a:off x="2057399" y="2747010"/>
            <a:ext cx="502920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🌪️  PURIFIER UNIT (Sink)  —  Suction proportional to u(t)</a:t>
            </a:r>
          </a:p>
        </p:txBody>
      </p:sp>
      <p:sp>
        <p:nvSpPr>
          <p:cNvPr id="121" name="Text 15"/>
          <p:cNvSpPr txBox="1"/>
          <p:nvPr/>
        </p:nvSpPr>
        <p:spPr>
          <a:xfrm>
            <a:off x="685799" y="3500903"/>
            <a:ext cx="777240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Feedback Loop</a:t>
            </a:r>
          </a:p>
        </p:txBody>
      </p:sp>
      <p:sp>
        <p:nvSpPr>
          <p:cNvPr id="122" name="Text 16"/>
          <p:cNvSpPr txBox="1"/>
          <p:nvPr/>
        </p:nvSpPr>
        <p:spPr>
          <a:xfrm>
            <a:off x="685799" y="3931920"/>
            <a:ext cx="777240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E0E0E0"/>
                </a:solidFill>
              </a:defRPr>
            </a:lvl1pPr>
          </a:lstStyle>
          <a:p>
            <a:r>
              <a:t>Current toxin mass T(t) is measured and fed back to the controller, which adjusts fan speed in real-time to maintain air safety.</a:t>
            </a:r>
          </a:p>
        </p:txBody>
      </p:sp>
      <p:sp>
        <p:nvSpPr>
          <p:cNvPr id="123" name="Text 17"/>
          <p:cNvSpPr txBox="1"/>
          <p:nvPr/>
        </p:nvSpPr>
        <p:spPr>
          <a:xfrm>
            <a:off x="685799" y="5171392"/>
            <a:ext cx="777240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Key Metrics Tracked in Real-Time:</a:t>
            </a:r>
          </a:p>
        </p:txBody>
      </p:sp>
      <p:sp>
        <p:nvSpPr>
          <p:cNvPr id="124" name="Text 18"/>
          <p:cNvSpPr txBox="1"/>
          <p:nvPr/>
        </p:nvSpPr>
        <p:spPr>
          <a:xfrm>
            <a:off x="685799" y="5739305"/>
            <a:ext cx="77724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• Total toxin mass T(t)  • Peak concentration C_max  • Fan speed output u(t)  • Leak detection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Text 1"/>
          <p:cNvSpPr txBox="1"/>
          <p:nvPr/>
        </p:nvSpPr>
        <p:spPr>
          <a:xfrm>
            <a:off x="502919" y="-53662"/>
            <a:ext cx="8138161" cy="109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5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VISUALIZATION &amp; REAL-TIME PERFORMANCE</a:t>
            </a:r>
          </a:p>
        </p:txBody>
      </p:sp>
      <p:sp>
        <p:nvSpPr>
          <p:cNvPr id="128" name="Shape 2"/>
          <p:cNvSpPr/>
          <p:nvPr/>
        </p:nvSpPr>
        <p:spPr>
          <a:xfrm>
            <a:off x="457199" y="914400"/>
            <a:ext cx="3931922" cy="2730877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Text 3"/>
          <p:cNvSpPr txBox="1"/>
          <p:nvPr/>
        </p:nvSpPr>
        <p:spPr>
          <a:xfrm>
            <a:off x="685800" y="1181468"/>
            <a:ext cx="3474719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3D Vector Field &amp; Voxels</a:t>
            </a:r>
          </a:p>
        </p:txBody>
      </p:sp>
      <p:sp>
        <p:nvSpPr>
          <p:cNvPr id="130" name="Text 4"/>
          <p:cNvSpPr txBox="1"/>
          <p:nvPr/>
        </p:nvSpPr>
        <p:spPr>
          <a:xfrm>
            <a:off x="777240" y="16916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Color-coded toxin concentration</a:t>
            </a:r>
          </a:p>
        </p:txBody>
      </p:sp>
      <p:sp>
        <p:nvSpPr>
          <p:cNvPr id="131" name="Text 5"/>
          <p:cNvSpPr txBox="1"/>
          <p:nvPr/>
        </p:nvSpPr>
        <p:spPr>
          <a:xfrm>
            <a:off x="777240" y="21488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Flow field arrows show suction paths</a:t>
            </a:r>
          </a:p>
        </p:txBody>
      </p:sp>
      <p:sp>
        <p:nvSpPr>
          <p:cNvPr id="132" name="Text 6"/>
          <p:cNvSpPr txBox="1"/>
          <p:nvPr/>
        </p:nvSpPr>
        <p:spPr>
          <a:xfrm>
            <a:off x="777240" y="26060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Voxel spheres expand with danger</a:t>
            </a:r>
          </a:p>
        </p:txBody>
      </p:sp>
      <p:sp>
        <p:nvSpPr>
          <p:cNvPr id="133" name="Text 7"/>
          <p:cNvSpPr txBox="1"/>
          <p:nvPr/>
        </p:nvSpPr>
        <p:spPr>
          <a:xfrm>
            <a:off x="777240" y="30632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Real-time particle smoke trails</a:t>
            </a:r>
          </a:p>
        </p:txBody>
      </p:sp>
      <p:sp>
        <p:nvSpPr>
          <p:cNvPr id="134" name="Shape 8"/>
          <p:cNvSpPr/>
          <p:nvPr/>
        </p:nvSpPr>
        <p:spPr>
          <a:xfrm>
            <a:off x="4754879" y="914400"/>
            <a:ext cx="3931921" cy="2730877"/>
          </a:xfrm>
          <a:prstGeom prst="rect">
            <a:avLst/>
          </a:prstGeom>
          <a:solidFill>
            <a:srgbClr val="2A2A3E"/>
          </a:solidFill>
          <a:ln w="25400">
            <a:solidFill>
              <a:srgbClr val="FF91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 9"/>
          <p:cNvSpPr txBox="1"/>
          <p:nvPr/>
        </p:nvSpPr>
        <p:spPr>
          <a:xfrm>
            <a:off x="4983479" y="1181468"/>
            <a:ext cx="3474720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FF91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Live Performance Graphs</a:t>
            </a:r>
          </a:p>
        </p:txBody>
      </p:sp>
      <p:sp>
        <p:nvSpPr>
          <p:cNvPr id="136" name="Text 10"/>
          <p:cNvSpPr txBox="1"/>
          <p:nvPr/>
        </p:nvSpPr>
        <p:spPr>
          <a:xfrm>
            <a:off x="5074920" y="16916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Red line: Total toxin mass T(t)</a:t>
            </a:r>
          </a:p>
        </p:txBody>
      </p:sp>
      <p:sp>
        <p:nvSpPr>
          <p:cNvPr id="137" name="Text 11"/>
          <p:cNvSpPr txBox="1"/>
          <p:nvPr/>
        </p:nvSpPr>
        <p:spPr>
          <a:xfrm>
            <a:off x="5074920" y="21488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Cyan line: Fan speed u(t)</a:t>
            </a:r>
          </a:p>
        </p:txBody>
      </p:sp>
      <p:sp>
        <p:nvSpPr>
          <p:cNvPr id="138" name="Text 12"/>
          <p:cNvSpPr txBox="1"/>
          <p:nvPr/>
        </p:nvSpPr>
        <p:spPr>
          <a:xfrm>
            <a:off x="5074920" y="26060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Orange line: Peak concentration</a:t>
            </a:r>
          </a:p>
        </p:txBody>
      </p:sp>
      <p:sp>
        <p:nvSpPr>
          <p:cNvPr id="139" name="Text 13"/>
          <p:cNvSpPr txBox="1"/>
          <p:nvPr/>
        </p:nvSpPr>
        <p:spPr>
          <a:xfrm>
            <a:off x="5074920" y="3063239"/>
            <a:ext cx="3291840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✓ 60-second rolling history</a:t>
            </a:r>
          </a:p>
        </p:txBody>
      </p:sp>
      <p:sp>
        <p:nvSpPr>
          <p:cNvPr id="140" name="Shape 14"/>
          <p:cNvSpPr/>
          <p:nvPr/>
        </p:nvSpPr>
        <p:spPr>
          <a:xfrm>
            <a:off x="457200" y="3791349"/>
            <a:ext cx="8229600" cy="993100"/>
          </a:xfrm>
          <a:prstGeom prst="rect">
            <a:avLst/>
          </a:prstGeom>
          <a:solidFill>
            <a:srgbClr val="2A2A3E"/>
          </a:solidFill>
          <a:ln w="25400">
            <a:solidFill>
              <a:srgbClr val="00C85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ext 15"/>
          <p:cNvSpPr txBox="1"/>
          <p:nvPr/>
        </p:nvSpPr>
        <p:spPr>
          <a:xfrm>
            <a:off x="685799" y="3867338"/>
            <a:ext cx="777240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⚡ Performance Optimizations</a:t>
            </a:r>
          </a:p>
        </p:txBody>
      </p:sp>
      <p:sp>
        <p:nvSpPr>
          <p:cNvPr id="142" name="Text 16"/>
          <p:cNvSpPr txBox="1"/>
          <p:nvPr/>
        </p:nvSpPr>
        <p:spPr>
          <a:xfrm>
            <a:off x="685799" y="4195114"/>
            <a:ext cx="777240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E0E0E0"/>
                </a:solidFill>
              </a:defRPr>
            </a:lvl1pPr>
          </a:lstStyle>
          <a:p>
            <a:r>
              <a:t>50× speedup using NumPy vectorization  •  Precomputed Gaussian masks  •  Efficient Laplacian computation  •  33 physics updates per real second (dt=30ms)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Text 1"/>
          <p:cNvSpPr txBox="1"/>
          <p:nvPr/>
        </p:nvSpPr>
        <p:spPr>
          <a:xfrm>
            <a:off x="502919" y="134039"/>
            <a:ext cx="8138161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IMPLEMENTATION DETAILS</a:t>
            </a:r>
          </a:p>
        </p:txBody>
      </p:sp>
      <p:sp>
        <p:nvSpPr>
          <p:cNvPr id="146" name="Shape 2"/>
          <p:cNvSpPr/>
          <p:nvPr/>
        </p:nvSpPr>
        <p:spPr>
          <a:xfrm>
            <a:off x="457200" y="914400"/>
            <a:ext cx="2743200" cy="1920240"/>
          </a:xfrm>
          <a:prstGeom prst="rect">
            <a:avLst/>
          </a:prstGeom>
          <a:solidFill>
            <a:srgbClr val="2A2A3E"/>
          </a:solidFill>
          <a:ln w="12700">
            <a:solidFill>
              <a:srgbClr val="FFD7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Text 3"/>
          <p:cNvSpPr txBox="1"/>
          <p:nvPr/>
        </p:nvSpPr>
        <p:spPr>
          <a:xfrm>
            <a:off x="685800" y="1056592"/>
            <a:ext cx="228600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GRID PARAMETERS</a:t>
            </a:r>
          </a:p>
        </p:txBody>
      </p:sp>
      <p:sp>
        <p:nvSpPr>
          <p:cNvPr id="148" name="Text 4"/>
          <p:cNvSpPr txBox="1"/>
          <p:nvPr/>
        </p:nvSpPr>
        <p:spPr>
          <a:xfrm>
            <a:off x="685800" y="1371600"/>
            <a:ext cx="2286001" cy="115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NX × NY × NZ: 7×5×7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Total cells: 245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dx: 1.71 m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dy: 1.6 m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dz: 1.71 m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dV: 4.41 m³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D: 0.35 m²/s</a:t>
            </a:r>
          </a:p>
        </p:txBody>
      </p:sp>
      <p:sp>
        <p:nvSpPr>
          <p:cNvPr id="149" name="Shape 5"/>
          <p:cNvSpPr/>
          <p:nvPr/>
        </p:nvSpPr>
        <p:spPr>
          <a:xfrm>
            <a:off x="3383279" y="914400"/>
            <a:ext cx="2743201" cy="1920240"/>
          </a:xfrm>
          <a:prstGeom prst="rect">
            <a:avLst/>
          </a:prstGeom>
          <a:solidFill>
            <a:srgbClr val="2A2A3E"/>
          </a:solidFill>
          <a:ln w="12700">
            <a:solidFill>
              <a:srgbClr val="00C85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Text 6"/>
          <p:cNvSpPr txBox="1"/>
          <p:nvPr/>
        </p:nvSpPr>
        <p:spPr>
          <a:xfrm>
            <a:off x="3611879" y="1056592"/>
            <a:ext cx="2286001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PID PARAMETERS</a:t>
            </a:r>
          </a:p>
        </p:txBody>
      </p:sp>
      <p:sp>
        <p:nvSpPr>
          <p:cNvPr id="151" name="Text 7"/>
          <p:cNvSpPr txBox="1"/>
          <p:nvPr/>
        </p:nvSpPr>
        <p:spPr>
          <a:xfrm>
            <a:off x="3611879" y="1371600"/>
            <a:ext cx="2286001" cy="1005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Kp: 3.8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Ki: 0.05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Kd: 2.0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N (filter): 20.0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dt: 30 ms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I_CLAMP: ±60</a:t>
            </a:r>
          </a:p>
        </p:txBody>
      </p:sp>
      <p:sp>
        <p:nvSpPr>
          <p:cNvPr id="152" name="Shape 8"/>
          <p:cNvSpPr/>
          <p:nvPr/>
        </p:nvSpPr>
        <p:spPr>
          <a:xfrm>
            <a:off x="6309359" y="914400"/>
            <a:ext cx="2377441" cy="1920240"/>
          </a:xfrm>
          <a:prstGeom prst="rect">
            <a:avLst/>
          </a:prstGeom>
          <a:solidFill>
            <a:srgbClr val="2A2A3E"/>
          </a:solidFill>
          <a:ln w="12700">
            <a:solidFill>
              <a:srgbClr val="FF91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Text 9"/>
          <p:cNvSpPr txBox="1"/>
          <p:nvPr/>
        </p:nvSpPr>
        <p:spPr>
          <a:xfrm>
            <a:off x="6537959" y="1056592"/>
            <a:ext cx="192024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91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SIMULATION</a:t>
            </a:r>
          </a:p>
        </p:txBody>
      </p:sp>
      <p:sp>
        <p:nvSpPr>
          <p:cNvPr id="154" name="Text 10"/>
          <p:cNvSpPr txBox="1"/>
          <p:nvPr/>
        </p:nvSpPr>
        <p:spPr>
          <a:xfrm>
            <a:off x="6537959" y="1371600"/>
            <a:ext cx="1920240" cy="1018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Framework: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VPython</a:t>
            </a:r>
          </a:p>
          <a:p>
            <a:pPr>
              <a:defRPr sz="1000"/>
            </a:pPr>
            <a:endParaRPr/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Libraries: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NumPy</a:t>
            </a: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Matplotlib</a:t>
            </a:r>
          </a:p>
        </p:txBody>
      </p:sp>
      <p:sp>
        <p:nvSpPr>
          <p:cNvPr id="155" name="Shape 11"/>
          <p:cNvSpPr/>
          <p:nvPr/>
        </p:nvSpPr>
        <p:spPr>
          <a:xfrm>
            <a:off x="457200" y="2981379"/>
            <a:ext cx="8229600" cy="2058926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Text 12"/>
          <p:cNvSpPr txBox="1"/>
          <p:nvPr/>
        </p:nvSpPr>
        <p:spPr>
          <a:xfrm>
            <a:off x="685799" y="3146847"/>
            <a:ext cx="77724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KEY FEATURES &amp; INTERACTIVITY</a:t>
            </a:r>
          </a:p>
        </p:txBody>
      </p:sp>
      <p:sp>
        <p:nvSpPr>
          <p:cNvPr id="157" name="Text 13"/>
          <p:cNvSpPr txBox="1"/>
          <p:nvPr/>
        </p:nvSpPr>
        <p:spPr>
          <a:xfrm>
            <a:off x="868679" y="3465008"/>
            <a:ext cx="36576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• Up to 3 simultaneous leaks active at once</a:t>
            </a:r>
          </a:p>
        </p:txBody>
      </p:sp>
      <p:sp>
        <p:nvSpPr>
          <p:cNvPr id="158" name="Text 14"/>
          <p:cNvSpPr txBox="1"/>
          <p:nvPr/>
        </p:nvSpPr>
        <p:spPr>
          <a:xfrm>
            <a:off x="4800600" y="3465008"/>
            <a:ext cx="3657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• Shock-wave rings on leak detection</a:t>
            </a:r>
          </a:p>
        </p:txBody>
      </p:sp>
      <p:sp>
        <p:nvSpPr>
          <p:cNvPr id="159" name="Text 15"/>
          <p:cNvSpPr txBox="1"/>
          <p:nvPr/>
        </p:nvSpPr>
        <p:spPr>
          <a:xfrm>
            <a:off x="868679" y="4013648"/>
            <a:ext cx="36576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• Live Kp/Ki/Kd slider adjustment during simulation</a:t>
            </a:r>
          </a:p>
        </p:txBody>
      </p:sp>
      <p:sp>
        <p:nvSpPr>
          <p:cNvPr id="160" name="Text 16"/>
          <p:cNvSpPr txBox="1"/>
          <p:nvPr/>
        </p:nvSpPr>
        <p:spPr>
          <a:xfrm>
            <a:off x="4800600" y="4013648"/>
            <a:ext cx="3657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• Anti-windup integrator clamping to prevent controller saturation</a:t>
            </a:r>
          </a:p>
        </p:txBody>
      </p:sp>
      <p:sp>
        <p:nvSpPr>
          <p:cNvPr id="161" name="Text 17"/>
          <p:cNvSpPr txBox="1"/>
          <p:nvPr/>
        </p:nvSpPr>
        <p:spPr>
          <a:xfrm>
            <a:off x="868679" y="4562288"/>
            <a:ext cx="36576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• Color-coded danger levels: Green (safe) → Yellow (warning) → Red (critical)</a:t>
            </a:r>
          </a:p>
        </p:txBody>
      </p:sp>
      <p:sp>
        <p:nvSpPr>
          <p:cNvPr id="162" name="Text 18"/>
          <p:cNvSpPr txBox="1"/>
          <p:nvPr/>
        </p:nvSpPr>
        <p:spPr>
          <a:xfrm>
            <a:off x="4800600" y="4562288"/>
            <a:ext cx="36576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• Particle smoke trails showing toxin advection toward purifier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Text 1"/>
          <p:cNvSpPr txBox="1"/>
          <p:nvPr/>
        </p:nvSpPr>
        <p:spPr>
          <a:xfrm>
            <a:off x="502919" y="134039"/>
            <a:ext cx="8138161" cy="64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RESULTS &amp; DATA ANALYSIS</a:t>
            </a:r>
          </a:p>
        </p:txBody>
      </p:sp>
      <p:sp>
        <p:nvSpPr>
          <p:cNvPr id="166" name="Shape 2"/>
          <p:cNvSpPr/>
          <p:nvPr/>
        </p:nvSpPr>
        <p:spPr>
          <a:xfrm>
            <a:off x="457199" y="914400"/>
            <a:ext cx="3931922" cy="2743200"/>
          </a:xfrm>
          <a:prstGeom prst="rect">
            <a:avLst/>
          </a:prstGeom>
          <a:solidFill>
            <a:srgbClr val="2A2A3E"/>
          </a:solidFill>
          <a:ln w="25400">
            <a:solidFill>
              <a:srgbClr val="00C853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" name="Text 3"/>
          <p:cNvSpPr txBox="1"/>
          <p:nvPr/>
        </p:nvSpPr>
        <p:spPr>
          <a:xfrm>
            <a:off x="685800" y="1041319"/>
            <a:ext cx="3474719" cy="294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✓ SCENARIO 1: Safe State</a:t>
            </a:r>
          </a:p>
        </p:txBody>
      </p:sp>
      <p:sp>
        <p:nvSpPr>
          <p:cNvPr id="168" name="Text 4"/>
          <p:cNvSpPr txBox="1"/>
          <p:nvPr/>
        </p:nvSpPr>
        <p:spPr>
          <a:xfrm>
            <a:off x="685800" y="1485944"/>
            <a:ext cx="347471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Initial state before any leak. Room fully clean, T(t) ≈ 0, fan off.</a:t>
            </a:r>
          </a:p>
        </p:txBody>
      </p:sp>
      <p:sp>
        <p:nvSpPr>
          <p:cNvPr id="169" name="Text 5"/>
          <p:cNvSpPr txBox="1"/>
          <p:nvPr/>
        </p:nvSpPr>
        <p:spPr>
          <a:xfrm>
            <a:off x="685800" y="2029205"/>
            <a:ext cx="3474719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i="1">
                <a:solidFill>
                  <a:srgbClr val="00C8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Status: AIR QUALITY 100% SAFE</a:t>
            </a:r>
          </a:p>
        </p:txBody>
      </p:sp>
      <p:sp>
        <p:nvSpPr>
          <p:cNvPr id="170" name="Text 6"/>
          <p:cNvSpPr txBox="1"/>
          <p:nvPr/>
        </p:nvSpPr>
        <p:spPr>
          <a:xfrm>
            <a:off x="685800" y="2674664"/>
            <a:ext cx="347471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Display: Green room, safe indicators</a:t>
            </a:r>
          </a:p>
        </p:txBody>
      </p:sp>
      <p:sp>
        <p:nvSpPr>
          <p:cNvPr id="171" name="Shape 7"/>
          <p:cNvSpPr/>
          <p:nvPr/>
        </p:nvSpPr>
        <p:spPr>
          <a:xfrm>
            <a:off x="4754879" y="914400"/>
            <a:ext cx="3931921" cy="2743200"/>
          </a:xfrm>
          <a:prstGeom prst="rect">
            <a:avLst/>
          </a:prstGeom>
          <a:solidFill>
            <a:srgbClr val="2A2A3E"/>
          </a:solidFill>
          <a:ln w="25400">
            <a:solidFill>
              <a:srgbClr val="FF174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2" name="Text 8"/>
          <p:cNvSpPr txBox="1"/>
          <p:nvPr/>
        </p:nvSpPr>
        <p:spPr>
          <a:xfrm>
            <a:off x="4983479" y="1009650"/>
            <a:ext cx="347472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FF174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⚠️  SCENARIO 2: Active Leak</a:t>
            </a:r>
          </a:p>
        </p:txBody>
      </p:sp>
      <p:sp>
        <p:nvSpPr>
          <p:cNvPr id="173" name="Text 9"/>
          <p:cNvSpPr txBox="1"/>
          <p:nvPr/>
        </p:nvSpPr>
        <p:spPr>
          <a:xfrm>
            <a:off x="4983479" y="1403394"/>
            <a:ext cx="347472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Toxin diffuses from leak source. T(t) rises, controller ramps fan speed.</a:t>
            </a:r>
          </a:p>
        </p:txBody>
      </p:sp>
      <p:sp>
        <p:nvSpPr>
          <p:cNvPr id="174" name="Text 10"/>
          <p:cNvSpPr txBox="1"/>
          <p:nvPr/>
        </p:nvSpPr>
        <p:spPr>
          <a:xfrm>
            <a:off x="4983479" y="2020569"/>
            <a:ext cx="347472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T(t) = 1758.69 (from triple integral)</a:t>
            </a:r>
          </a:p>
        </p:txBody>
      </p:sp>
      <p:sp>
        <p:nvSpPr>
          <p:cNvPr id="175" name="Text 11"/>
          <p:cNvSpPr txBox="1"/>
          <p:nvPr/>
        </p:nvSpPr>
        <p:spPr>
          <a:xfrm>
            <a:off x="4983479" y="2674664"/>
            <a:ext cx="34747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0E0E0"/>
                </a:solidFill>
              </a:defRPr>
            </a:lvl1pPr>
          </a:lstStyle>
          <a:p>
            <a:r>
              <a:t>Display: Orange room, flashing danger, max concentration shown</a:t>
            </a:r>
          </a:p>
        </p:txBody>
      </p:sp>
      <p:sp>
        <p:nvSpPr>
          <p:cNvPr id="176" name="Shape 12"/>
          <p:cNvSpPr/>
          <p:nvPr/>
        </p:nvSpPr>
        <p:spPr>
          <a:xfrm>
            <a:off x="457200" y="3886200"/>
            <a:ext cx="8229600" cy="1143001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" name="Text 13"/>
          <p:cNvSpPr txBox="1"/>
          <p:nvPr/>
        </p:nvSpPr>
        <p:spPr>
          <a:xfrm>
            <a:off x="685799" y="4022250"/>
            <a:ext cx="7772401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CONTROLLER RESPONSE IN REAL-TIME</a:t>
            </a:r>
          </a:p>
        </p:txBody>
      </p:sp>
      <p:sp>
        <p:nvSpPr>
          <p:cNvPr id="178" name="Text 14"/>
          <p:cNvSpPr txBox="1"/>
          <p:nvPr/>
        </p:nvSpPr>
        <p:spPr>
          <a:xfrm>
            <a:off x="685800" y="4261865"/>
            <a:ext cx="1828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1.</a:t>
            </a:r>
          </a:p>
        </p:txBody>
      </p:sp>
      <p:sp>
        <p:nvSpPr>
          <p:cNvPr id="179" name="Text 15"/>
          <p:cNvSpPr txBox="1"/>
          <p:nvPr/>
        </p:nvSpPr>
        <p:spPr>
          <a:xfrm>
            <a:off x="1005839" y="4261865"/>
            <a:ext cx="82296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Error Detected</a:t>
            </a:r>
          </a:p>
        </p:txBody>
      </p:sp>
      <p:sp>
        <p:nvSpPr>
          <p:cNvPr id="180" name="Text 16"/>
          <p:cNvSpPr txBox="1"/>
          <p:nvPr/>
        </p:nvSpPr>
        <p:spPr>
          <a:xfrm>
            <a:off x="1005839" y="4604933"/>
            <a:ext cx="155448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0E0E0"/>
                </a:solidFill>
              </a:defRPr>
            </a:lvl1pPr>
          </a:lstStyle>
          <a:p>
            <a:r>
              <a:t>T(t) rises above safe threshold. e(t) = T(t) &gt; 0</a:t>
            </a:r>
          </a:p>
        </p:txBody>
      </p:sp>
      <p:sp>
        <p:nvSpPr>
          <p:cNvPr id="181" name="Text 17"/>
          <p:cNvSpPr txBox="1"/>
          <p:nvPr/>
        </p:nvSpPr>
        <p:spPr>
          <a:xfrm>
            <a:off x="2651760" y="4261865"/>
            <a:ext cx="1828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2.</a:t>
            </a:r>
          </a:p>
        </p:txBody>
      </p:sp>
      <p:sp>
        <p:nvSpPr>
          <p:cNvPr id="182" name="Text 18"/>
          <p:cNvSpPr txBox="1"/>
          <p:nvPr/>
        </p:nvSpPr>
        <p:spPr>
          <a:xfrm>
            <a:off x="2971800" y="4261865"/>
            <a:ext cx="82296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PID Computes</a:t>
            </a:r>
          </a:p>
        </p:txBody>
      </p:sp>
      <p:sp>
        <p:nvSpPr>
          <p:cNvPr id="183" name="Text 19"/>
          <p:cNvSpPr txBox="1"/>
          <p:nvPr/>
        </p:nvSpPr>
        <p:spPr>
          <a:xfrm>
            <a:off x="2971799" y="4535083"/>
            <a:ext cx="1554481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0E0E0"/>
                </a:solidFill>
              </a:defRPr>
            </a:lvl1pPr>
          </a:lstStyle>
          <a:p>
            <a:r>
              <a:t>P: immediate response | I: accumulates error | D: predicts trend</a:t>
            </a:r>
          </a:p>
        </p:txBody>
      </p:sp>
      <p:sp>
        <p:nvSpPr>
          <p:cNvPr id="184" name="Text 20"/>
          <p:cNvSpPr txBox="1"/>
          <p:nvPr/>
        </p:nvSpPr>
        <p:spPr>
          <a:xfrm>
            <a:off x="4617720" y="4261865"/>
            <a:ext cx="1828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3.</a:t>
            </a:r>
          </a:p>
        </p:txBody>
      </p:sp>
      <p:sp>
        <p:nvSpPr>
          <p:cNvPr id="185" name="Text 21"/>
          <p:cNvSpPr txBox="1"/>
          <p:nvPr/>
        </p:nvSpPr>
        <p:spPr>
          <a:xfrm>
            <a:off x="4937760" y="4261865"/>
            <a:ext cx="82296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Fan Activates</a:t>
            </a:r>
          </a:p>
        </p:txBody>
      </p:sp>
      <p:sp>
        <p:nvSpPr>
          <p:cNvPr id="186" name="Text 22"/>
          <p:cNvSpPr txBox="1"/>
          <p:nvPr/>
        </p:nvSpPr>
        <p:spPr>
          <a:xfrm>
            <a:off x="4937760" y="4604933"/>
            <a:ext cx="155448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0E0E0"/>
                </a:solidFill>
              </a:defRPr>
            </a:lvl1pPr>
          </a:lstStyle>
          <a:p>
            <a:r>
              <a:t>u(t) increases smoothly, proportional to toxin load</a:t>
            </a:r>
          </a:p>
        </p:txBody>
      </p:sp>
      <p:sp>
        <p:nvSpPr>
          <p:cNvPr id="187" name="Text 23"/>
          <p:cNvSpPr txBox="1"/>
          <p:nvPr/>
        </p:nvSpPr>
        <p:spPr>
          <a:xfrm>
            <a:off x="6583679" y="4261865"/>
            <a:ext cx="18288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4.</a:t>
            </a:r>
          </a:p>
        </p:txBody>
      </p:sp>
      <p:sp>
        <p:nvSpPr>
          <p:cNvPr id="188" name="Text 24"/>
          <p:cNvSpPr txBox="1"/>
          <p:nvPr/>
        </p:nvSpPr>
        <p:spPr>
          <a:xfrm>
            <a:off x="6903719" y="4261865"/>
            <a:ext cx="822961" cy="391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Purification</a:t>
            </a:r>
          </a:p>
        </p:txBody>
      </p:sp>
      <p:sp>
        <p:nvSpPr>
          <p:cNvPr id="189" name="Text 25"/>
          <p:cNvSpPr txBox="1"/>
          <p:nvPr/>
        </p:nvSpPr>
        <p:spPr>
          <a:xfrm>
            <a:off x="6903719" y="4535083"/>
            <a:ext cx="1554481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0E0E0"/>
                </a:solidFill>
              </a:defRPr>
            </a:lvl1pPr>
          </a:lstStyle>
          <a:p>
            <a:r>
              <a:t>Sink term grows with fan speed; toxin decreases until safe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" name="Shape 1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00D9FF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" name="Text 2"/>
          <p:cNvSpPr txBox="1"/>
          <p:nvPr/>
        </p:nvSpPr>
        <p:spPr>
          <a:xfrm>
            <a:off x="502919" y="803721"/>
            <a:ext cx="8138161" cy="769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48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PROJECT SUMMARY</a:t>
            </a:r>
          </a:p>
        </p:txBody>
      </p:sp>
      <p:sp>
        <p:nvSpPr>
          <p:cNvPr id="194" name="Text 3"/>
          <p:cNvSpPr txBox="1"/>
          <p:nvPr/>
        </p:nvSpPr>
        <p:spPr>
          <a:xfrm>
            <a:off x="502919" y="1658709"/>
            <a:ext cx="81381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 i="1">
                <a:solidFill>
                  <a:srgbClr val="FFD700"/>
                </a:solidFill>
              </a:defRPr>
            </a:lvl1pPr>
          </a:lstStyle>
          <a:p>
            <a:r>
              <a:t>Bridging Theory &amp; Practice</a:t>
            </a:r>
          </a:p>
        </p:txBody>
      </p:sp>
      <p:sp>
        <p:nvSpPr>
          <p:cNvPr id="195" name="Text 4"/>
          <p:cNvSpPr txBox="1"/>
          <p:nvPr/>
        </p:nvSpPr>
        <p:spPr>
          <a:xfrm>
            <a:off x="960119" y="2560320"/>
            <a:ext cx="7223761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E0E0E0"/>
                </a:solidFill>
              </a:defRPr>
            </a:lvl1pPr>
          </a:lstStyle>
          <a:p>
            <a:r>
              <a:t>✓ Implemented 3D PDE solver using finite differences + NumPy vectorization</a:t>
            </a:r>
          </a:p>
        </p:txBody>
      </p:sp>
      <p:sp>
        <p:nvSpPr>
          <p:cNvPr id="196" name="Text 5"/>
          <p:cNvSpPr txBox="1"/>
          <p:nvPr/>
        </p:nvSpPr>
        <p:spPr>
          <a:xfrm>
            <a:off x="960119" y="3063239"/>
            <a:ext cx="7223761" cy="287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E0E0E0"/>
                </a:solidFill>
              </a:defRPr>
            </a:lvl1pPr>
          </a:lstStyle>
          <a:p>
            <a:r>
              <a:t>✓ Computed triple integrals in real-time for feedback control</a:t>
            </a:r>
          </a:p>
        </p:txBody>
      </p:sp>
      <p:sp>
        <p:nvSpPr>
          <p:cNvPr id="197" name="Text 6"/>
          <p:cNvSpPr txBox="1"/>
          <p:nvPr/>
        </p:nvSpPr>
        <p:spPr>
          <a:xfrm>
            <a:off x="960119" y="3566159"/>
            <a:ext cx="7223761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E0E0E0"/>
                </a:solidFill>
              </a:defRPr>
            </a:lvl1pPr>
          </a:lstStyle>
          <a:p>
            <a:r>
              <a:t>✓ Designed &amp; discretized Laplace-domain PID using Tustin transform</a:t>
            </a:r>
          </a:p>
        </p:txBody>
      </p:sp>
      <p:sp>
        <p:nvSpPr>
          <p:cNvPr id="198" name="Text 7"/>
          <p:cNvSpPr txBox="1"/>
          <p:nvPr/>
        </p:nvSpPr>
        <p:spPr>
          <a:xfrm>
            <a:off x="960119" y="4069079"/>
            <a:ext cx="7223761" cy="287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E0E0E0"/>
                </a:solidFill>
              </a:defRPr>
            </a:lvl1pPr>
          </a:lstStyle>
          <a:p>
            <a:r>
              <a:t>✓ Created interactive 3D visualization with live performance graphs</a:t>
            </a:r>
          </a:p>
        </p:txBody>
      </p:sp>
      <p:sp>
        <p:nvSpPr>
          <p:cNvPr id="199" name="Text 8"/>
          <p:cNvSpPr txBox="1"/>
          <p:nvPr/>
        </p:nvSpPr>
        <p:spPr>
          <a:xfrm>
            <a:off x="960119" y="4572000"/>
            <a:ext cx="7223761" cy="287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E0E0E0"/>
                </a:solidFill>
              </a:defRPr>
            </a:lvl1pPr>
          </a:lstStyle>
          <a:p>
            <a:r>
              <a:t>✓ Achieved 50× speedup through mathematical optimization</a:t>
            </a:r>
          </a:p>
        </p:txBody>
      </p:sp>
      <p:sp>
        <p:nvSpPr>
          <p:cNvPr id="200" name="Shape 9"/>
          <p:cNvSpPr/>
          <p:nvPr/>
        </p:nvSpPr>
        <p:spPr>
          <a:xfrm>
            <a:off x="6189603" y="2658546"/>
            <a:ext cx="2721696" cy="1826658"/>
          </a:xfrm>
          <a:prstGeom prst="rect">
            <a:avLst/>
          </a:prstGeom>
          <a:solidFill>
            <a:srgbClr val="2A2A3E"/>
          </a:solidFill>
          <a:ln w="25400">
            <a:solidFill>
              <a:srgbClr val="00D9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ext 10"/>
          <p:cNvSpPr txBox="1"/>
          <p:nvPr/>
        </p:nvSpPr>
        <p:spPr>
          <a:xfrm>
            <a:off x="6579765" y="2859975"/>
            <a:ext cx="1941374" cy="142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 i="1">
                <a:solidFill>
                  <a:srgbClr val="E0E0E0"/>
                </a:solidFill>
              </a:defRPr>
            </a:pPr>
            <a:r>
              <a:t>TECHNOLOGIES: </a:t>
            </a:r>
          </a:p>
          <a:p>
            <a:pPr>
              <a:defRPr sz="1400" i="1">
                <a:solidFill>
                  <a:srgbClr val="E0E0E0"/>
                </a:solidFill>
              </a:defRPr>
            </a:pPr>
            <a:r>
              <a:t>Python  •  NumPy  •  VPython  •  Matplotlib  •  Calculus  •  Control Theory  •  Signal Processing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Shape 1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Shape 2"/>
          <p:cNvSpPr/>
          <p:nvPr/>
        </p:nvSpPr>
        <p:spPr>
          <a:xfrm>
            <a:off x="0" y="6720840"/>
            <a:ext cx="9144000" cy="137161"/>
          </a:xfrm>
          <a:prstGeom prst="rect">
            <a:avLst/>
          </a:prstGeom>
          <a:solidFill>
            <a:srgbClr val="00D9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Text 3"/>
          <p:cNvSpPr txBox="1"/>
          <p:nvPr/>
        </p:nvSpPr>
        <p:spPr>
          <a:xfrm>
            <a:off x="502919" y="2180354"/>
            <a:ext cx="8138161" cy="942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0" b="1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THANK YOU</a:t>
            </a:r>
          </a:p>
        </p:txBody>
      </p:sp>
      <p:sp>
        <p:nvSpPr>
          <p:cNvPr id="207" name="Text 4"/>
          <p:cNvSpPr txBox="1"/>
          <p:nvPr/>
        </p:nvSpPr>
        <p:spPr>
          <a:xfrm>
            <a:off x="502919" y="3183225"/>
            <a:ext cx="813816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 i="1">
                <a:solidFill>
                  <a:srgbClr val="FFD700"/>
                </a:solidFill>
              </a:defRPr>
            </a:lvl1pPr>
          </a:lstStyle>
          <a:p>
            <a:r>
              <a:rPr dirty="0"/>
              <a:t>Smart-Room Toxin Purifier </a:t>
            </a:r>
          </a:p>
        </p:txBody>
      </p:sp>
      <p:sp>
        <p:nvSpPr>
          <p:cNvPr id="208" name="Text 6"/>
          <p:cNvSpPr txBox="1"/>
          <p:nvPr/>
        </p:nvSpPr>
        <p:spPr>
          <a:xfrm>
            <a:off x="502919" y="4809149"/>
            <a:ext cx="8138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 i="1">
                <a:solidFill>
                  <a:srgbClr val="E0E0E0"/>
                </a:solidFill>
              </a:defRPr>
            </a:lvl1pPr>
          </a:lstStyle>
          <a:p>
            <a:r>
              <a:t>Authors: KEBBANE Ouael • BENDILMI Mélissa • ALLALOU Lilia Assia • FERHAT Abdeldjalil Nassim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1024</Words>
  <Application>Microsoft Office PowerPoint</Application>
  <PresentationFormat>On-screen Show (16:9)</PresentationFormat>
  <Paragraphs>161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Ouael Kebbane</cp:lastModifiedBy>
  <cp:revision>1</cp:revision>
  <dcterms:modified xsi:type="dcterms:W3CDTF">2026-04-28T20:45:27Z</dcterms:modified>
</cp:coreProperties>
</file>